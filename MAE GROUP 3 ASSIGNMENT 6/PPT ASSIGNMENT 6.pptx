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61A1-8683-2681-C6C9-B7ACCDDE7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835E0-7EB8-125A-FAD2-91C32154C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EB81C-B455-54FA-A1D4-ACB4BD3F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150E-2427-449D-BBB0-F487D3C82F5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0EE0F-B2DF-054B-3873-4EF919457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C7D5D-26AC-C14C-470B-6E7C238C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FCB08-FFDA-47CA-9C44-1AEF59F1C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3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0D00-247D-CD6E-AD27-A0A93C304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A8D2D-68E2-E006-11FB-82CF5B1D7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95958-F0FA-B4A8-FAAF-21D1B7300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150E-2427-449D-BBB0-F487D3C82F5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439F2-99F8-80C8-9BAC-FCD0F0193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98AAD-9260-8A52-4BEB-B439EA97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FCB08-FFDA-47CA-9C44-1AEF59F1C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88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FD79B-0D22-31AD-AE7E-C1F714EA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FAA14-E421-3EB4-0081-3C9FAAC7D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50895-40F0-F43F-C4DE-80F16AAA4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150E-2427-449D-BBB0-F487D3C82F5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DEB7C-C245-1F5A-330B-DE57984F7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FF0C7-0821-0C34-3A89-FA859168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FCB08-FFDA-47CA-9C44-1AEF59F1C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3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EBB3-1866-BF1F-A276-789C10EE9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6AF70-F900-C619-46C0-EA6F15A5B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C969B-A8CE-66CF-FD9B-F8DBD6140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0F0D3-170A-960E-3C91-EEC65242A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150E-2427-449D-BBB0-F487D3C82F5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3F7E6-E668-AB38-9E05-549A36E5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83E19-417B-2DB6-048F-13D0DC2EB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FCB08-FFDA-47CA-9C44-1AEF59F1C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8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93CD-A8E1-3ACF-8E4C-6785E1FD0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C0BBB-8B8C-45DE-F680-90A5A2A5C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44BED-63B7-02F4-B0D4-B5BDD3F77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B88B7-F055-1840-8450-425C28E6E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66B6F-E487-507E-3472-F95348F8B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83712-664C-23EC-FFAC-B7E6B8B26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150E-2427-449D-BBB0-F487D3C82F5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A3203-F4FD-AA94-FF9E-C950188F3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F07E3-D71E-9C48-68E0-4D7C0B4F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FCB08-FFDA-47CA-9C44-1AEF59F1C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2E26-7840-9856-A7DE-03ADB4FEB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D91CD-BC04-A8C9-5993-753EAAB3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150E-2427-449D-BBB0-F487D3C82F5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2C9738-A878-1342-0BDB-4815222C5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04D22-446F-8154-FA18-B792F901D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FCB08-FFDA-47CA-9C44-1AEF59F1C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57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147B3-2A6C-6A1A-1804-F9940AB2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150E-2427-449D-BBB0-F487D3C82F5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459703-BE66-76C7-5071-708F12363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710F0-6106-C112-C6C6-A1F9D70C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FCB08-FFDA-47CA-9C44-1AEF59F1C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0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38F1-C49F-AE02-AB1F-D53EAF289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7D9FF-4F8B-3200-A7E8-2C78B8685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65E39-AE28-EF20-AFA1-A80D4A7E7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88603-935F-B27E-78AB-7D6ADF29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150E-2427-449D-BBB0-F487D3C82F5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B1BA0-82E8-305E-87DE-25E930B6F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4740E-B873-3AC0-7296-A003C755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FCB08-FFDA-47CA-9C44-1AEF59F1C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B0004-181D-0AF1-F4D6-9B2332BC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B2F64E-419D-E0D2-06ED-04D8CA855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E2F10-9100-3205-C460-8FDE70A38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48EF1-4327-EF66-0793-A6491444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150E-2427-449D-BBB0-F487D3C82F5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B3513-8A5D-A516-5B7B-4EFD8F43F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D2A38-8725-C1E2-C98E-614F9AFE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FCB08-FFDA-47CA-9C44-1AEF59F1C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13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71FF-9D5C-FC75-6A19-9FEE4898F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0DA04-194C-E2B4-C67C-3ADA5C9D7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ECFB9-30BB-EBA8-F1D5-A67190B4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150E-2427-449D-BBB0-F487D3C82F5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B2167-4827-1BF1-7C33-87666B037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800AF-31A4-1EA1-3693-632A568A1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FCB08-FFDA-47CA-9C44-1AEF59F1C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0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A89C2B-F769-988C-F49D-1D9BF3DB3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DC990-65AA-86E7-568B-B097AF634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AD481-D2B9-3A41-536F-9FCEFA33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150E-2427-449D-BBB0-F487D3C82F5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64259-013C-92FF-D670-307FED30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1CACB-DCCA-2D75-26CD-951B59E8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FCB08-FFDA-47CA-9C44-1AEF59F1C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3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4A6FF-D289-9658-CB27-7DAAFE17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1727E-1FE1-8ABC-7564-1BF1FFA05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5763A-8769-775D-029C-3532589D29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0150E-2427-449D-BBB0-F487D3C82F5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E2483-491D-EA31-F09F-72DBD51D0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B3AC4-4F8B-60C9-5E5C-0EC4B1657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FCB08-FFDA-47CA-9C44-1AEF59F1C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0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13283A-52D5-447B-825E-7EF2CD952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246415"/>
              </p:ext>
            </p:extLst>
          </p:nvPr>
        </p:nvGraphicFramePr>
        <p:xfrm>
          <a:off x="1743075" y="1581150"/>
          <a:ext cx="8416925" cy="3505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352925">
                  <a:extLst>
                    <a:ext uri="{9D8B030D-6E8A-4147-A177-3AD203B41FA5}">
                      <a16:colId xmlns:a16="http://schemas.microsoft.com/office/drawing/2014/main" val="26670692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63330417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r>
                        <a:rPr lang="en-US" dirty="0"/>
                        <a:t>GROUP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REGISTRATION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63791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US" dirty="0"/>
                        <a:t>NAKAKANDE RACHEAL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BU/UP/2025/05767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29924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US" dirty="0"/>
                        <a:t>LYAKA AMELIA KIRABO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BU/UP/2025/05765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77385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US" dirty="0"/>
                        <a:t>DRICHI HANNINGTON HENRY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BU/UP/2025/4963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6643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US" dirty="0"/>
                        <a:t>SSENYONJO TREVOR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BU/UP/2025/05769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21334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US" dirty="0"/>
                        <a:t>ATWANZIRE VICTOR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BU/UP/2025/5176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20131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4E29D04-0A82-3E0D-1798-EFF85006122A}"/>
              </a:ext>
            </a:extLst>
          </p:cNvPr>
          <p:cNvSpPr txBox="1"/>
          <p:nvPr/>
        </p:nvSpPr>
        <p:spPr>
          <a:xfrm>
            <a:off x="2219325" y="628649"/>
            <a:ext cx="712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3 MAE ASSIGNMENT 6 FUNCTIONS IN MATLAB</a:t>
            </a:r>
          </a:p>
        </p:txBody>
      </p:sp>
    </p:spTree>
    <p:extLst>
      <p:ext uri="{BB962C8B-B14F-4D97-AF65-F5344CB8AC3E}">
        <p14:creationId xmlns:p14="http://schemas.microsoft.com/office/powerpoint/2010/main" val="2830575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F0FA3B-64F8-5D37-AA16-086E69A62EB4}"/>
                  </a:ext>
                </a:extLst>
              </p:cNvPr>
              <p:cNvSpPr txBox="1"/>
              <p:nvPr/>
            </p:nvSpPr>
            <p:spPr>
              <a:xfrm>
                <a:off x="1151467" y="694267"/>
                <a:ext cx="9922933" cy="5467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1) </a:t>
                </a:r>
                <a:r>
                  <a:rPr lang="en-US" sz="1800" b="1" u="sng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NETWON RAMPSON’S METHOD</a:t>
                </a:r>
                <a:endParaRPr lang="en-US" sz="1800" kern="100" dirty="0"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en-US" sz="1800" b="1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Use Newton’s method to find the zeros of f(x)=1 - 3x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num>
                      <m:den>
                        <m: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1800" b="1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 * (x e^x) accurate to five decimal places.</a:t>
                </a:r>
                <a:endParaRPr lang="en-US" sz="1800" kern="100" dirty="0"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buFont typeface="+mj-lt"/>
                  <a:buAutoNum type="alphaLcParenR"/>
                </a:pPr>
                <a:r>
                  <a:rPr lang="en-US" sz="1800" b="1" dirty="0">
                    <a:effectLst/>
                    <a:latin typeface="+mn-lt"/>
                    <a:ea typeface="Times New Roman" panose="02020603050405020304" pitchFamily="18" charset="0"/>
                  </a:rPr>
                  <a:t>Find the root of </a:t>
                </a:r>
                <a14:m>
                  <m:oMath xmlns:m="http://schemas.openxmlformats.org/officeDocument/2006/math"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𝒇</m:t>
                    </m:r>
                    <m:d>
                      <m:dPr>
                        <m:ctrlP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</m:d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 </m:t>
                    </m:r>
                    <m:sSup>
                      <m:sSupPr>
                        <m:ctrlP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𝟑</m:t>
                        </m:r>
                      </m:sup>
                    </m:sSup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𝒙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𝟐</m:t>
                    </m:r>
                  </m:oMath>
                </a14:m>
                <a:r>
                  <a:rPr lang="en-US" sz="1800" b="1" dirty="0">
                    <a:effectLst/>
                    <a:latin typeface="+mn-lt"/>
                    <a:ea typeface="Times New Roman" panose="02020603050405020304" pitchFamily="18" charset="0"/>
                  </a:rPr>
                  <a:t> with initial guesses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𝟏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.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𝟎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𝒂𝒏𝒅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  <m:sSub>
                      <m:sSubPr>
                        <m:ctrlP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𝟐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.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𝟎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, </m:t>
                    </m:r>
                  </m:oMath>
                </a14:m>
                <a:r>
                  <a:rPr lang="en-US" sz="1800" b="1" dirty="0">
                    <a:effectLst/>
                    <a:latin typeface="+mn-lt"/>
                    <a:ea typeface="Times New Roman" panose="02020603050405020304" pitchFamily="18" charset="0"/>
                  </a:rPr>
                  <a:t>target tolerance </a:t>
                </a:r>
                <a14:m>
                  <m:oMath xmlns:m="http://schemas.openxmlformats.org/officeDocument/2006/math"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∈ = </m:t>
                    </m:r>
                    <m:sSup>
                      <m:sSupPr>
                        <m:ctrlP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𝟏𝟎</m:t>
                        </m:r>
                      </m:e>
                      <m:sup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p>
                    </m:sSup>
                  </m:oMath>
                </a14:m>
                <a:endParaRPr lang="en-US" sz="1800" dirty="0">
                  <a:effectLst/>
                  <a:latin typeface="+mn-lt"/>
                  <a:ea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  <a:endParaRPr lang="en-US" sz="1800" kern="100" dirty="0"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u="sng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2) SECANT METHOD</a:t>
                </a:r>
                <a:endParaRPr lang="en-US" sz="1800" kern="100" dirty="0"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en-US" sz="1800" b="1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Find the positive solution of f(x) = x – 2sinx = 0 by the secant method, starting with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800" b="1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= 2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b="1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= 1.9</a:t>
                </a:r>
                <a:endParaRPr lang="en-US" sz="1800" kern="100" dirty="0"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buFont typeface="+mj-lt"/>
                  <a:buAutoNum type="alphaLcParenR"/>
                </a:pPr>
                <a:r>
                  <a:rPr lang="en-US" sz="1800" b="1" dirty="0">
                    <a:effectLst/>
                    <a:latin typeface="+mn-lt"/>
                    <a:ea typeface="Times New Roman" panose="02020603050405020304" pitchFamily="18" charset="0"/>
                  </a:rPr>
                  <a:t>Find the root of </a:t>
                </a:r>
                <a14:m>
                  <m:oMath xmlns:m="http://schemas.openxmlformats.org/officeDocument/2006/math"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𝒇</m:t>
                    </m:r>
                    <m:d>
                      <m:dPr>
                        <m:ctrlP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</m:d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 </m:t>
                    </m:r>
                    <m:sSup>
                      <m:sSupPr>
                        <m:ctrlP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𝟑</m:t>
                        </m:r>
                      </m:sup>
                    </m:sSup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𝟓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𝒄𝒐𝒎𝒑𝒖𝒕𝒊𝒏𝒈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𝟓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 b="1" dirty="0">
                    <a:effectLst/>
                    <a:latin typeface="+mn-lt"/>
                    <a:ea typeface="Times New Roman" panose="02020603050405020304" pitchFamily="18" charset="0"/>
                  </a:rPr>
                  <a:t> with initial guesses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𝟐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.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𝟎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𝒂𝒏𝒅</m:t>
                    </m:r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b="1" dirty="0">
                    <a:effectLst/>
                    <a:latin typeface="+mn-lt"/>
                    <a:ea typeface="Times New Roman" panose="02020603050405020304" pitchFamily="18" charset="0"/>
                  </a:rPr>
                  <a:t> tolerance </a:t>
                </a:r>
                <a14:m>
                  <m:oMath xmlns:m="http://schemas.openxmlformats.org/officeDocument/2006/math">
                    <m:r>
                      <a:rPr lang="en-US" sz="1800" b="1" i="1"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∈ = </m:t>
                    </m:r>
                    <m:sSup>
                      <m:sSupPr>
                        <m:ctrlP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𝟏𝟎</m:t>
                        </m:r>
                      </m:e>
                      <m:sup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US" sz="1800" b="1" i="1">
                            <a:effectLst/>
                            <a:latin typeface="+mn-lt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sup>
                    </m:sSup>
                  </m:oMath>
                </a14:m>
                <a:endParaRPr lang="en-US" sz="1800" dirty="0">
                  <a:effectLst/>
                  <a:latin typeface="+mn-lt"/>
                  <a:ea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u="none" strike="noStrike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  <a:endParaRPr lang="en-US" sz="1800" kern="100" dirty="0"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3) </a:t>
                </a:r>
                <a:r>
                  <a:rPr lang="en-US" sz="1800" b="1" u="sng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RUNGE-KUTTA METHOD</a:t>
                </a:r>
                <a:endParaRPr lang="en-US" sz="1800" kern="100" dirty="0"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en-US" sz="1800" b="1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Use the fourth order Runge – Kutta algorithm with step size h = 0.2 to solve the initial value problem;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𝒅𝒚</m:t>
                        </m:r>
                      </m:num>
                      <m:den>
                        <m: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𝒅𝒙</m:t>
                        </m:r>
                      </m:den>
                    </m:f>
                  </m:oMath>
                </a14:m>
                <a:r>
                  <a:rPr lang="en-US" sz="1800" b="1" kern="100" dirty="0">
                    <a:effectLst/>
                    <a:latin typeface="+mn-lt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b="1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+ 2y =sin 3x with y (0) =1 in the interval 0 ≤ X ≤ 2.4.</a:t>
                </a:r>
                <a:endParaRPr lang="en-US" sz="1800" kern="100" dirty="0"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en-US" sz="1800" b="1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Solve the initial value problem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𝒅𝒚</m:t>
                        </m:r>
                      </m:num>
                      <m:den>
                        <m:r>
                          <a:rPr lang="en-US" sz="1800" b="1" i="1" kern="100">
                            <a:effectLst/>
                            <a:latin typeface="+mn-lt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𝒅𝒙</m:t>
                        </m:r>
                      </m:den>
                    </m:f>
                    <m:r>
                      <a:rPr lang="en-US" sz="1800" b="1" i="1" kern="10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800" b="1" i="1" kern="10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𝒙</m:t>
                    </m:r>
                    <m:r>
                      <a:rPr lang="en-US" sz="1800" b="1" i="1" kern="10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b="1" i="1" kern="10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𝒚</m:t>
                    </m:r>
                  </m:oMath>
                </a14:m>
                <a:r>
                  <a:rPr lang="en-US" sz="1800" b="1" kern="100" dirty="0">
                    <a:effectLst/>
                    <a:latin typeface="+mn-lt"/>
                    <a:ea typeface="Times New Roman" panose="02020603050405020304" pitchFamily="18" charset="0"/>
                    <a:cs typeface="Calibri" panose="020F0502020204030204" pitchFamily="34" charset="0"/>
                  </a:rPr>
                  <a:t> with y (0) = 1,</a:t>
                </a:r>
                <a:r>
                  <a:rPr lang="en-US" sz="1800" b="1" kern="100" dirty="0"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800" b="1" kern="100" dirty="0">
                    <a:effectLst/>
                    <a:latin typeface="+mn-lt"/>
                    <a:ea typeface="Times New Roman" panose="02020603050405020304" pitchFamily="18" charset="0"/>
                    <a:cs typeface="Calibri" panose="020F0502020204030204" pitchFamily="34" charset="0"/>
                  </a:rPr>
                  <a:t>step size h = 0.1, to approximate y (0.5).</a:t>
                </a:r>
                <a:endParaRPr lang="en-US" sz="1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F0FA3B-64F8-5D37-AA16-086E69A62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467" y="694267"/>
                <a:ext cx="9922933" cy="5467972"/>
              </a:xfrm>
              <a:prstGeom prst="rect">
                <a:avLst/>
              </a:prstGeom>
              <a:blipFill>
                <a:blip r:embed="rId2"/>
                <a:stretch>
                  <a:fillRect l="-553" t="-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928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4DAAAFC-0409-2B7C-9EDB-3D57F6F570C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371475"/>
                <a:ext cx="5562600" cy="6046258"/>
              </a:xfrm>
            </p:spPr>
            <p:txBody>
              <a:bodyPr>
                <a:normAutofit fontScale="55000" lnSpcReduction="20000"/>
              </a:bodyPr>
              <a:lstStyle/>
              <a:p>
                <a:pPr marL="0" lvl="0" indent="0">
                  <a:buNone/>
                </a:pPr>
                <a:r>
                  <a:rPr lang="en-US" sz="3300" b="1" dirty="0"/>
                  <a:t>1 a) Use Newton’s method to find the zeros of f(x)=1 - 3x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300" b="1" i="1"/>
                        </m:ctrlPr>
                      </m:fPr>
                      <m:num>
                        <m:r>
                          <a:rPr lang="en-US" sz="3300" b="1" i="1"/>
                          <m:t>𝟏</m:t>
                        </m:r>
                      </m:num>
                      <m:den>
                        <m:r>
                          <a:rPr lang="en-US" sz="3300" b="1" i="1"/>
                          <m:t>𝟐</m:t>
                        </m:r>
                      </m:den>
                    </m:f>
                  </m:oMath>
                </a14:m>
                <a:r>
                  <a:rPr lang="en-US" sz="3300" b="1" dirty="0"/>
                  <a:t> * (x e^x) accurate to five decimal places.</a:t>
                </a:r>
                <a:endParaRPr lang="en-US" sz="3300" dirty="0"/>
              </a:p>
              <a:p>
                <a:pPr marL="0" indent="0">
                  <a:buNone/>
                </a:pPr>
                <a:endParaRPr lang="en-US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1"/>
                    </a:solidFill>
                  </a:rPr>
                  <a:t>% </a:t>
                </a:r>
                <a:r>
                  <a:rPr lang="en-US" dirty="0">
                    <a:solidFill>
                      <a:schemeClr val="accent1"/>
                    </a:solidFill>
                  </a:rPr>
                  <a:t>Newton method for f(x)=1-3x+0.5*x*exp(x)</a:t>
                </a:r>
              </a:p>
              <a:p>
                <a:pPr marL="0" indent="0">
                  <a:buNone/>
                </a:pPr>
                <a:r>
                  <a:rPr lang="en-US" dirty="0"/>
                  <a:t>f= @(x) 1-3*x+0.5*x.*exp(x);</a:t>
                </a:r>
              </a:p>
              <a:p>
                <a:pPr marL="0" indent="0">
                  <a:buNone/>
                </a:pPr>
                <a:r>
                  <a:rPr lang="en-US" dirty="0"/>
                  <a:t>fp= @(x) -3 + 0.5 *exp(x). *(1+x);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% Newton function</a:t>
                </a:r>
              </a:p>
              <a:p>
                <a:pPr marL="0" indent="0">
                  <a:buNone/>
                </a:pPr>
                <a:r>
                  <a:rPr lang="en-US" dirty="0"/>
                  <a:t>Function [root, iter] = newton (f, fp, x0, tol)</a:t>
                </a:r>
              </a:p>
              <a:p>
                <a:pPr marL="0" indent="0">
                  <a:buNone/>
                </a:pPr>
                <a:r>
                  <a:rPr lang="en-US" dirty="0"/>
                  <a:t> x=x0;</a:t>
                </a:r>
              </a:p>
              <a:p>
                <a:pPr marL="0" indent="0">
                  <a:buNone/>
                </a:pPr>
                <a:r>
                  <a:rPr lang="en-US" dirty="0"/>
                  <a:t> fprintf(‘</a:t>
                </a:r>
                <a:r>
                  <a:rPr lang="en-US" dirty="0" err="1"/>
                  <a:t>iter|x_n</a:t>
                </a:r>
                <a:r>
                  <a:rPr lang="en-US" dirty="0"/>
                  <a:t>| f(x_n) |f” (x_n) |x_{n+1} \n’);</a:t>
                </a:r>
              </a:p>
              <a:p>
                <a:pPr marL="0" indent="0">
                  <a:buNone/>
                </a:pPr>
                <a:r>
                  <a:rPr lang="en-US" dirty="0"/>
                  <a:t>for k = 0:20</a:t>
                </a:r>
              </a:p>
              <a:p>
                <a:pPr marL="0" indent="0">
                  <a:buNone/>
                </a:pPr>
                <a:r>
                  <a:rPr lang="en-US" dirty="0"/>
                  <a:t>             fx = f(x); fpx = fp(x);</a:t>
                </a:r>
              </a:p>
              <a:p>
                <a:pPr marL="0" indent="0">
                  <a:buNone/>
                </a:pPr>
                <a:r>
                  <a:rPr lang="en-US" dirty="0"/>
                  <a:t>             x_new = x – fx\fpx;</a:t>
                </a:r>
              </a:p>
              <a:p>
                <a:pPr marL="0" indent="0">
                  <a:buNone/>
                </a:pPr>
                <a:r>
                  <a:rPr lang="en-US" dirty="0"/>
                  <a:t>             fprintf (%4d\n’, k, x, fx, fpx, x_new)</a:t>
                </a:r>
              </a:p>
              <a:p>
                <a:pPr marL="0" indent="0">
                  <a:buNone/>
                </a:pPr>
                <a:r>
                  <a:rPr lang="en-US" dirty="0"/>
                  <a:t>             if abs (x_new – x) &lt; tol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x = x_new;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break;</a:t>
                </a:r>
              </a:p>
              <a:p>
                <a:pPr marL="0" indent="0">
                  <a:buNone/>
                </a:pPr>
                <a:r>
                  <a:rPr lang="en-US" dirty="0"/>
                  <a:t>             end</a:t>
                </a:r>
              </a:p>
              <a:p>
                <a:pPr marL="0" indent="0">
                  <a:buNone/>
                </a:pPr>
                <a:r>
                  <a:rPr lang="en-US" dirty="0"/>
                  <a:t>             x = x_new;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4DAAAFC-0409-2B7C-9EDB-3D57F6F570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371475"/>
                <a:ext cx="5562600" cy="6046258"/>
              </a:xfrm>
              <a:blipFill>
                <a:blip r:embed="rId2"/>
                <a:stretch>
                  <a:fillRect l="-876" t="-1714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49FAE3-C3BA-83B0-BE91-6A0093558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6099" y="575733"/>
            <a:ext cx="4838699" cy="5842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root = x;</a:t>
            </a:r>
          </a:p>
          <a:p>
            <a:pPr marL="0" indent="0">
              <a:buNone/>
            </a:pPr>
            <a:r>
              <a:rPr lang="en-US" dirty="0"/>
              <a:t>iter = k + 1;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tol = 1e-8; </a:t>
            </a:r>
            <a:r>
              <a:rPr lang="en-US" dirty="0">
                <a:solidFill>
                  <a:schemeClr val="accent1"/>
                </a:solidFill>
              </a:rPr>
              <a:t>% for 5 decimal places 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% Root 1 – start at 0.4 </a:t>
            </a:r>
          </a:p>
          <a:p>
            <a:pPr marL="0" indent="0">
              <a:buNone/>
            </a:pPr>
            <a:r>
              <a:rPr lang="en-US" dirty="0"/>
              <a:t>fprintf (‘\n===ROOT 1 guess x0 = 0.4 ===\n’)</a:t>
            </a:r>
          </a:p>
          <a:p>
            <a:pPr marL="0" indent="0">
              <a:buNone/>
            </a:pPr>
            <a:r>
              <a:rPr lang="en-US" dirty="0"/>
              <a:t>[r1, ~] = newton (f, fp, 0.4, tol);</a:t>
            </a:r>
          </a:p>
          <a:p>
            <a:pPr marL="0" indent="0">
              <a:buNone/>
            </a:pPr>
            <a:r>
              <a:rPr lang="en-US" dirty="0"/>
              <a:t>fprintf (‘Root1 = %.10f -&gt; 5 dec = %. 5f\n’, r1, r1);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% Root 2 – start at 1.2 </a:t>
            </a:r>
          </a:p>
          <a:p>
            <a:pPr marL="0" indent="0">
              <a:buNone/>
            </a:pPr>
            <a:r>
              <a:rPr lang="en-US" dirty="0"/>
              <a:t>fprintf (‘\n===ROOT 2 guess x0 = 1.2 ===\n’)</a:t>
            </a:r>
          </a:p>
          <a:p>
            <a:pPr marL="0" indent="0">
              <a:buNone/>
            </a:pPr>
            <a:r>
              <a:rPr lang="en-US" dirty="0"/>
              <a:t>[r2, ~] = newton (f, fp, 1.2, tol);</a:t>
            </a:r>
          </a:p>
          <a:p>
            <a:pPr marL="0" indent="0">
              <a:buNone/>
            </a:pPr>
            <a:r>
              <a:rPr lang="en-US" dirty="0"/>
              <a:t>fprintf (‘Root2 = %.10f -&gt; 5 dec = %. 5f\n’, r2, r2);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904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5B6AB7-310F-5E9B-A428-2FA0DFB7F8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9788" y="220133"/>
                <a:ext cx="4343400" cy="1837267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2700" b="1" dirty="0"/>
                  <a:t>b) Find the root of </a:t>
                </a:r>
                <a14:m>
                  <m:oMath xmlns:m="http://schemas.openxmlformats.org/officeDocument/2006/math">
                    <m:r>
                      <a:rPr lang="en-US" sz="2700" b="1" i="0"/>
                      <m:t>𝐟</m:t>
                    </m:r>
                    <m:d>
                      <m:dPr>
                        <m:ctrlPr>
                          <a:rPr lang="en-US" sz="2700" b="1" i="0"/>
                        </m:ctrlPr>
                      </m:dPr>
                      <m:e>
                        <m:r>
                          <a:rPr lang="en-US" sz="2700" b="1" i="0"/>
                          <m:t>𝐱</m:t>
                        </m:r>
                      </m:e>
                    </m:d>
                    <m:r>
                      <a:rPr lang="en-US" sz="2700" b="1" i="0"/>
                      <m:t>= </m:t>
                    </m:r>
                    <m:sSup>
                      <m:sSupPr>
                        <m:ctrlPr>
                          <a:rPr lang="en-US" sz="2700" b="1" i="0"/>
                        </m:ctrlPr>
                      </m:sSupPr>
                      <m:e>
                        <m:r>
                          <a:rPr lang="en-US" sz="2700" b="1" i="0"/>
                          <m:t>𝐱</m:t>
                        </m:r>
                      </m:e>
                      <m:sup>
                        <m:r>
                          <a:rPr lang="en-US" sz="2700" b="1" i="0"/>
                          <m:t>𝟑</m:t>
                        </m:r>
                      </m:sup>
                    </m:sSup>
                    <m:r>
                      <a:rPr lang="en-US" sz="2700" b="1" i="0"/>
                      <m:t>−</m:t>
                    </m:r>
                    <m:r>
                      <a:rPr lang="en-US" sz="2700" b="1" i="0"/>
                      <m:t>𝐱</m:t>
                    </m:r>
                    <m:r>
                      <a:rPr lang="en-US" sz="2700" b="1" i="0"/>
                      <m:t>−</m:t>
                    </m:r>
                    <m:r>
                      <a:rPr lang="en-US" sz="2700" b="1" i="0"/>
                      <m:t>𝟐</m:t>
                    </m:r>
                  </m:oMath>
                </a14:m>
                <a:r>
                  <a:rPr lang="en-US" sz="2700" b="1" dirty="0"/>
                  <a:t> with initial guesses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0"/>
                        </m:ctrlPr>
                      </m:sSubPr>
                      <m:e>
                        <m:r>
                          <a:rPr lang="en-US" sz="2700" b="1" i="0"/>
                          <m:t> </m:t>
                        </m:r>
                        <m:r>
                          <a:rPr lang="en-US" sz="2700" b="1" i="0"/>
                          <m:t>𝐱</m:t>
                        </m:r>
                      </m:e>
                      <m:sub>
                        <m:r>
                          <a:rPr lang="en-US" sz="2700" b="1" i="0"/>
                          <m:t>𝟎</m:t>
                        </m:r>
                      </m:sub>
                    </m:sSub>
                    <m:r>
                      <a:rPr lang="en-US" sz="2700" b="1" i="0"/>
                      <m:t>=</m:t>
                    </m:r>
                    <m:r>
                      <a:rPr lang="en-US" sz="2700" b="1" i="0"/>
                      <m:t>𝟏</m:t>
                    </m:r>
                    <m:r>
                      <a:rPr lang="en-US" sz="2700" b="1" i="0"/>
                      <m:t>.</m:t>
                    </m:r>
                    <m:r>
                      <a:rPr lang="en-US" sz="2700" b="1" i="0"/>
                      <m:t>𝟎</m:t>
                    </m:r>
                    <m:r>
                      <a:rPr lang="en-US" sz="2700" b="1" i="0"/>
                      <m:t> </m:t>
                    </m:r>
                    <m:r>
                      <a:rPr lang="en-US" sz="2700" b="1" i="0"/>
                      <m:t>𝐚𝐧𝐝</m:t>
                    </m:r>
                    <m:r>
                      <a:rPr lang="en-US" sz="2700" b="1" i="0"/>
                      <m:t> </m:t>
                    </m:r>
                    <m:sSub>
                      <m:sSubPr>
                        <m:ctrlPr>
                          <a:rPr lang="en-US" sz="2700" b="1" i="0"/>
                        </m:ctrlPr>
                      </m:sSubPr>
                      <m:e>
                        <m:r>
                          <a:rPr lang="en-US" sz="2700" b="1" i="0"/>
                          <m:t>𝐱</m:t>
                        </m:r>
                      </m:e>
                      <m:sub>
                        <m:r>
                          <a:rPr lang="en-US" sz="2700" b="1" i="0"/>
                          <m:t>𝟏</m:t>
                        </m:r>
                      </m:sub>
                    </m:sSub>
                    <m:r>
                      <a:rPr lang="en-US" sz="2700" b="1" i="0"/>
                      <m:t>=</m:t>
                    </m:r>
                    <m:r>
                      <a:rPr lang="en-US" sz="2700" b="1" i="0"/>
                      <m:t>𝟐</m:t>
                    </m:r>
                    <m:r>
                      <a:rPr lang="en-US" sz="2700" b="1" i="0"/>
                      <m:t>.</m:t>
                    </m:r>
                    <m:r>
                      <a:rPr lang="en-US" sz="2700" b="1" i="0"/>
                      <m:t>𝟎</m:t>
                    </m:r>
                    <m:r>
                      <a:rPr lang="en-US" sz="2700" b="1" i="0"/>
                      <m:t>, </m:t>
                    </m:r>
                  </m:oMath>
                </a14:m>
                <a:r>
                  <a:rPr lang="en-US" sz="2700" b="1" dirty="0"/>
                  <a:t>target        tolerance </a:t>
                </a:r>
                <a14:m>
                  <m:oMath xmlns:m="http://schemas.openxmlformats.org/officeDocument/2006/math">
                    <m:r>
                      <a:rPr lang="en-US" sz="2700" b="1" i="0"/>
                      <m:t>∈ = </m:t>
                    </m:r>
                    <m:sSup>
                      <m:sSupPr>
                        <m:ctrlPr>
                          <a:rPr lang="en-US" sz="2700" b="1" i="0"/>
                        </m:ctrlPr>
                      </m:sSupPr>
                      <m:e>
                        <m:r>
                          <a:rPr lang="en-US" sz="2700" b="1" i="0"/>
                          <m:t>𝟏𝟎</m:t>
                        </m:r>
                      </m:e>
                      <m:sup>
                        <m:r>
                          <a:rPr lang="en-US" sz="2700" b="1" i="0"/>
                          <m:t>−</m:t>
                        </m:r>
                        <m:r>
                          <a:rPr lang="en-US" sz="2700" b="1" i="0"/>
                          <m:t>𝟒</m:t>
                        </m:r>
                      </m:sup>
                    </m:sSup>
                  </m:oMath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5B6AB7-310F-5E9B-A428-2FA0DFB7F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9788" y="220133"/>
                <a:ext cx="4343400" cy="1837267"/>
              </a:xfrm>
              <a:blipFill>
                <a:blip r:embed="rId2"/>
                <a:stretch>
                  <a:fillRect l="-2247" t="-3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6AA01-3635-3CAA-947C-5AD70CBAA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762125"/>
            <a:ext cx="4346577" cy="441854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clc; clear;</a:t>
            </a:r>
          </a:p>
          <a:p>
            <a:r>
              <a:rPr lang="en-US" dirty="0"/>
              <a:t>f = @(x) x.^3 - x - 2;</a:t>
            </a:r>
          </a:p>
          <a:p>
            <a:r>
              <a:rPr lang="en-US" dirty="0"/>
              <a:t>fp = @(x) 3*x.^2 - 1;</a:t>
            </a:r>
          </a:p>
          <a:p>
            <a:endParaRPr lang="en-US" dirty="0"/>
          </a:p>
          <a:p>
            <a:r>
              <a:rPr lang="en-US" dirty="0"/>
              <a:t>x0 = 2.0;          </a:t>
            </a:r>
            <a:r>
              <a:rPr lang="en-US" dirty="0">
                <a:solidFill>
                  <a:schemeClr val="accent1"/>
                </a:solidFill>
              </a:rPr>
              <a:t>% initial guess </a:t>
            </a:r>
          </a:p>
          <a:p>
            <a:r>
              <a:rPr lang="en-US" dirty="0"/>
              <a:t>tol = 1e-4; max_iter = 20; x = x0;</a:t>
            </a:r>
          </a:p>
          <a:p>
            <a:endParaRPr lang="en-US" dirty="0"/>
          </a:p>
          <a:p>
            <a:r>
              <a:rPr lang="en-US" dirty="0"/>
              <a:t>fprintf (' n      x_n         f(x_n)    f''(x_n)    x_{n+1}     |x_{n+1}-x_n|\n');</a:t>
            </a:r>
          </a:p>
          <a:p>
            <a:r>
              <a:rPr lang="en-US" dirty="0"/>
              <a:t>for n = 0:max_iter</a:t>
            </a:r>
          </a:p>
          <a:p>
            <a:r>
              <a:rPr lang="en-US" dirty="0"/>
              <a:t>    fx = f(x);</a:t>
            </a:r>
          </a:p>
          <a:p>
            <a:r>
              <a:rPr lang="en-US" dirty="0"/>
              <a:t>    fpx = fp(x);</a:t>
            </a:r>
          </a:p>
          <a:p>
            <a:r>
              <a:rPr lang="en-US" dirty="0"/>
              <a:t>     if fpx == 0</a:t>
            </a:r>
          </a:p>
          <a:p>
            <a:r>
              <a:rPr lang="en-US" dirty="0"/>
              <a:t>        error ('Derivative zero');</a:t>
            </a:r>
          </a:p>
          <a:p>
            <a:r>
              <a:rPr lang="en-US" dirty="0"/>
              <a:t>    end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209AB-5D9C-9D6B-F52F-42230C629C72}"/>
              </a:ext>
            </a:extLst>
          </p:cNvPr>
          <p:cNvSpPr txBox="1"/>
          <p:nvPr/>
        </p:nvSpPr>
        <p:spPr>
          <a:xfrm>
            <a:off x="5479521" y="868188"/>
            <a:ext cx="6096000" cy="558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x_new = x - fx/fpx;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   err = abs (x_new - x);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 fprintf </a:t>
            </a:r>
            <a:r>
              <a:rPr lang="en-US" sz="1800" kern="100" dirty="0">
                <a:solidFill>
                  <a:schemeClr val="accent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('%2d %12.10f %10.6f %10.6f %12.10f %12.8f\n</a:t>
            </a: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', n, x, fx, fpx, x_new, err);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    if err &lt; tol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       x = x_new;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       break;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   end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   x = x_new;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end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fprintf ('\nRoot = %.10f\n', x);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fprintf ('Root 5dp = %.5f\n', x);</a:t>
            </a: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fprintf ('f(root) = %e\n', f(x));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96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B201C19-F153-C75E-6FD3-B4C95758470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sz="3600" b="1" dirty="0"/>
                  <a:t> </a:t>
                </a:r>
                <a:br>
                  <a:rPr lang="en-US" sz="3600" dirty="0"/>
                </a:br>
                <a:r>
                  <a:rPr lang="en-US" sz="3600" b="1" u="sng" dirty="0"/>
                  <a:t>2) </a:t>
                </a:r>
                <a:r>
                  <a:rPr lang="en-US" sz="3100" b="1" u="sng" dirty="0"/>
                  <a:t>SECANT METHOD</a:t>
                </a:r>
                <a:br>
                  <a:rPr lang="en-US" sz="3100" dirty="0"/>
                </a:br>
                <a:r>
                  <a:rPr lang="en-US" sz="3100" b="1" dirty="0"/>
                  <a:t>Find the positive solution of f(x) = x – 2sinx = 0 by the secant method, starting with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100" b="1" i="1"/>
                        </m:ctrlPr>
                      </m:sSubPr>
                      <m:e>
                        <m:r>
                          <a:rPr lang="en-US" sz="3100" b="1" i="1"/>
                          <m:t>𝒙</m:t>
                        </m:r>
                      </m:e>
                      <m:sub>
                        <m:r>
                          <a:rPr lang="en-US" sz="3100" b="1" i="1"/>
                          <m:t>𝟎</m:t>
                        </m:r>
                      </m:sub>
                    </m:sSub>
                  </m:oMath>
                </a14:m>
                <a:r>
                  <a:rPr lang="en-US" sz="3100" b="1" dirty="0"/>
                  <a:t>= 2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100" b="1" i="1"/>
                        </m:ctrlPr>
                      </m:sSubPr>
                      <m:e>
                        <m:r>
                          <a:rPr lang="en-US" sz="3100" b="1" i="1"/>
                          <m:t>𝒙</m:t>
                        </m:r>
                      </m:e>
                      <m:sub>
                        <m:r>
                          <a:rPr lang="en-US" sz="3100" b="1" i="1"/>
                          <m:t>𝟏</m:t>
                        </m:r>
                      </m:sub>
                    </m:sSub>
                  </m:oMath>
                </a14:m>
                <a:r>
                  <a:rPr lang="en-US" sz="3100" b="1" dirty="0"/>
                  <a:t>= 1.9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B201C19-F153-C75E-6FD3-B4C9575847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12903" b="-8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5854C-84A3-DFFD-12F2-87333FB1B1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x0 = 2; </a:t>
            </a:r>
          </a:p>
          <a:p>
            <a:pPr marL="0" indent="0">
              <a:buNone/>
            </a:pPr>
            <a:r>
              <a:rPr lang="en-US" dirty="0"/>
              <a:t>x1 = 1.9;</a:t>
            </a:r>
          </a:p>
          <a:p>
            <a:pPr marL="0" indent="0">
              <a:buNone/>
            </a:pPr>
            <a:r>
              <a:rPr lang="en-US" dirty="0"/>
              <a:t> tol =1e-6; </a:t>
            </a:r>
          </a:p>
          <a:p>
            <a:pPr marL="0" indent="0">
              <a:buNone/>
            </a:pPr>
            <a:r>
              <a:rPr lang="en-US" dirty="0"/>
              <a:t>max_iter = 20;</a:t>
            </a:r>
          </a:p>
          <a:p>
            <a:pPr marL="0" indent="0">
              <a:buNone/>
            </a:pPr>
            <a:r>
              <a:rPr lang="en-US" dirty="0"/>
              <a:t>fprintf (‘n, x0, x1, f(x0), f(x1), x2\n’);</a:t>
            </a:r>
          </a:p>
          <a:p>
            <a:pPr marL="0" indent="0">
              <a:buNone/>
            </a:pPr>
            <a:r>
              <a:rPr lang="en-US" dirty="0"/>
              <a:t>for n = 0:max_iter </a:t>
            </a:r>
          </a:p>
          <a:p>
            <a:pPr marL="0" indent="0">
              <a:buNone/>
            </a:pPr>
            <a:r>
              <a:rPr lang="en-US" dirty="0"/>
              <a:t>fx0 = f(x0); fx1 = f(x1);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% Secant formula </a:t>
            </a:r>
          </a:p>
          <a:p>
            <a:pPr marL="0" indent="0">
              <a:buNone/>
            </a:pPr>
            <a:r>
              <a:rPr lang="en-US" dirty="0"/>
              <a:t>   x2 = x1 - fx1*(x1 - x0) / (fx1 - fx0);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  fprintf ('%2d %10.8f %10.8f %10.8f %10.8f %12.10f\n', n, x0, x1, fx0, fx1, x2);</a:t>
            </a:r>
          </a:p>
          <a:p>
            <a:pPr marL="0" indent="0">
              <a:buNone/>
            </a:pPr>
            <a:r>
              <a:rPr lang="en-US" dirty="0"/>
              <a:t>        if abs (x2 - x1) &lt; tol</a:t>
            </a:r>
          </a:p>
          <a:p>
            <a:pPr marL="0" indent="0">
              <a:buNone/>
            </a:pPr>
            <a:r>
              <a:rPr lang="en-US" dirty="0"/>
              <a:t>        break;</a:t>
            </a:r>
          </a:p>
          <a:p>
            <a:pPr marL="0" indent="0">
              <a:buNone/>
            </a:pPr>
            <a:r>
              <a:rPr lang="en-US" dirty="0"/>
              <a:t>    end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5938F-8AB3-C871-70E8-AA87669B2C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% next iteration</a:t>
            </a:r>
          </a:p>
          <a:p>
            <a:pPr marL="0" indent="0">
              <a:buNone/>
            </a:pPr>
            <a:r>
              <a:rPr lang="en-US" dirty="0"/>
              <a:t>    x0 = x1; x1 = x2;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fprintf ('\nPositive root = %.10f\n', x2);</a:t>
            </a:r>
          </a:p>
          <a:p>
            <a:pPr marL="0" indent="0">
              <a:buNone/>
            </a:pPr>
            <a:r>
              <a:rPr lang="en-US" dirty="0"/>
              <a:t>fprintf ('Positive root 5dp = %.5f\n', x2);</a:t>
            </a:r>
          </a:p>
          <a:p>
            <a:pPr marL="0" indent="0">
              <a:buNone/>
            </a:pPr>
            <a:r>
              <a:rPr lang="en-US" dirty="0"/>
              <a:t>fprintf('f(root) = %e\n', f(x2));</a:t>
            </a:r>
          </a:p>
        </p:txBody>
      </p:sp>
    </p:spTree>
    <p:extLst>
      <p:ext uri="{BB962C8B-B14F-4D97-AF65-F5344CB8AC3E}">
        <p14:creationId xmlns:p14="http://schemas.microsoft.com/office/powerpoint/2010/main" val="1450747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6CD1CA-7423-66B5-4156-5B3E1B7EB5D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46050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600" b="1" dirty="0"/>
                  <a:t>2 b) Find the root of </a:t>
                </a:r>
                <a14:m>
                  <m:oMath xmlns:m="http://schemas.openxmlformats.org/officeDocument/2006/math">
                    <m:r>
                      <a:rPr lang="en-US" sz="3600" b="1" i="1"/>
                      <m:t>𝒇</m:t>
                    </m:r>
                    <m:d>
                      <m:dPr>
                        <m:ctrlPr>
                          <a:rPr lang="en-US" sz="3600" b="1" i="1"/>
                        </m:ctrlPr>
                      </m:dPr>
                      <m:e>
                        <m:r>
                          <a:rPr lang="en-US" sz="3600" b="1" i="1"/>
                          <m:t>𝒙</m:t>
                        </m:r>
                      </m:e>
                    </m:d>
                    <m:r>
                      <a:rPr lang="en-US" sz="3600" b="1" i="1"/>
                      <m:t>= </m:t>
                    </m:r>
                    <m:sSup>
                      <m:sSupPr>
                        <m:ctrlPr>
                          <a:rPr lang="en-US" sz="3600" b="1" i="1"/>
                        </m:ctrlPr>
                      </m:sSupPr>
                      <m:e>
                        <m:r>
                          <a:rPr lang="en-US" sz="3600" b="1" i="1"/>
                          <m:t>𝒙</m:t>
                        </m:r>
                      </m:e>
                      <m:sup>
                        <m:r>
                          <a:rPr lang="en-US" sz="3600" b="1" i="1"/>
                          <m:t>𝟑</m:t>
                        </m:r>
                      </m:sup>
                    </m:sSup>
                    <m:r>
                      <a:rPr lang="en-US" sz="3600" b="1" i="1"/>
                      <m:t>−</m:t>
                    </m:r>
                    <m:r>
                      <a:rPr lang="en-US" sz="3600" b="1" i="1"/>
                      <m:t>𝟓</m:t>
                    </m:r>
                    <m:r>
                      <a:rPr lang="en-US" sz="3600" b="1" i="1"/>
                      <m:t>(</m:t>
                    </m:r>
                    <m:r>
                      <a:rPr lang="en-US" sz="3600" b="1" i="1"/>
                      <m:t>𝒄𝒐𝒎𝒑𝒖𝒕𝒊𝒏𝒈</m:t>
                    </m:r>
                    <m:r>
                      <a:rPr lang="en-US" sz="3600" b="1" i="1"/>
                      <m:t> </m:t>
                    </m:r>
                    <m:r>
                      <a:rPr lang="en-US" sz="3600" b="1" i="1"/>
                      <m:t>𝟓</m:t>
                    </m:r>
                    <m:r>
                      <a:rPr lang="en-US" sz="3600" b="1" i="1"/>
                      <m:t>)</m:t>
                    </m:r>
                  </m:oMath>
                </a14:m>
                <a:r>
                  <a:rPr lang="en-US" sz="3600" b="1" dirty="0"/>
                  <a:t> with initial guesses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/>
                        </m:ctrlPr>
                      </m:sSubPr>
                      <m:e>
                        <m:r>
                          <a:rPr lang="en-US" sz="3600" b="1" i="1"/>
                          <m:t> </m:t>
                        </m:r>
                        <m:r>
                          <a:rPr lang="en-US" sz="3600" b="1" i="1"/>
                          <m:t>𝒙</m:t>
                        </m:r>
                      </m:e>
                      <m:sub>
                        <m:r>
                          <a:rPr lang="en-US" sz="3600" b="1" i="1"/>
                          <m:t>𝟎</m:t>
                        </m:r>
                      </m:sub>
                    </m:sSub>
                    <m:r>
                      <a:rPr lang="en-US" sz="3600" b="1" i="1"/>
                      <m:t>=</m:t>
                    </m:r>
                    <m:r>
                      <a:rPr lang="en-US" sz="3600" b="1" i="1"/>
                      <m:t>𝟐</m:t>
                    </m:r>
                    <m:r>
                      <a:rPr lang="en-US" sz="3600" b="1" i="1"/>
                      <m:t>.</m:t>
                    </m:r>
                    <m:r>
                      <a:rPr lang="en-US" sz="3600" b="1" i="1"/>
                      <m:t>𝟎</m:t>
                    </m:r>
                    <m:r>
                      <a:rPr lang="en-US" sz="3600" b="1" i="1"/>
                      <m:t> </m:t>
                    </m:r>
                    <m:r>
                      <a:rPr lang="en-US" sz="3600" b="1" i="1"/>
                      <m:t>𝒂𝒏𝒅</m:t>
                    </m:r>
                    <m:r>
                      <a:rPr lang="en-US" sz="3600" b="1" i="1"/>
                      <m:t> </m:t>
                    </m:r>
                  </m:oMath>
                </a14:m>
                <a:r>
                  <a:rPr lang="en-US" sz="3600" b="1" dirty="0"/>
                  <a:t> tolerance </a:t>
                </a:r>
                <a14:m>
                  <m:oMath xmlns:m="http://schemas.openxmlformats.org/officeDocument/2006/math">
                    <m:r>
                      <a:rPr lang="en-US" sz="3600" b="1" i="1"/>
                      <m:t>∈ = </m:t>
                    </m:r>
                    <m:sSup>
                      <m:sSupPr>
                        <m:ctrlPr>
                          <a:rPr lang="en-US" sz="3600" b="1" i="1"/>
                        </m:ctrlPr>
                      </m:sSupPr>
                      <m:e>
                        <m:r>
                          <a:rPr lang="en-US" sz="3600" b="1" i="1"/>
                          <m:t>𝟏𝟎</m:t>
                        </m:r>
                      </m:e>
                      <m:sup>
                        <m:r>
                          <a:rPr lang="en-US" sz="3600" b="1" i="1"/>
                          <m:t>−</m:t>
                        </m:r>
                        <m:r>
                          <a:rPr lang="en-US" sz="3600" b="1" i="1"/>
                          <m:t>𝟒</m:t>
                        </m:r>
                      </m:sup>
                    </m:sSup>
                  </m:oMath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6CD1CA-7423-66B5-4156-5B3E1B7EB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460500"/>
              </a:xfrm>
              <a:blipFill>
                <a:blip r:embed="rId2"/>
                <a:stretch>
                  <a:fillRect l="-1507" t="-10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CFB62-B20E-F8B3-722E-BF55B66C41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400" y="1540933"/>
            <a:ext cx="5359400" cy="463603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 = @(x) x.^3 - 5;</a:t>
            </a:r>
          </a:p>
          <a:p>
            <a:pPr marL="0" indent="0">
              <a:buNone/>
            </a:pPr>
            <a:r>
              <a:rPr lang="en-US" dirty="0"/>
              <a:t>x0 = 1.0;      </a:t>
            </a:r>
            <a:r>
              <a:rPr lang="en-US" dirty="0">
                <a:solidFill>
                  <a:schemeClr val="accent1"/>
                </a:solidFill>
              </a:rPr>
              <a:t>% initial guess</a:t>
            </a:r>
          </a:p>
          <a:p>
            <a:pPr marL="0" indent="0">
              <a:buNone/>
            </a:pPr>
            <a:r>
              <a:rPr lang="en-US" dirty="0"/>
              <a:t>x1 = 2.0; </a:t>
            </a:r>
          </a:p>
          <a:p>
            <a:pPr marL="0" indent="0">
              <a:buNone/>
            </a:pPr>
            <a:r>
              <a:rPr lang="en-US" dirty="0"/>
              <a:t>tol = 1e-4;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fprintf (' n      x_{n-1}     x_n       f(x_{n-1})  f(x_n)     x_{n+1}     |x_{n+1}-x_n|\n')</a:t>
            </a:r>
          </a:p>
          <a:p>
            <a:pPr marL="0" indent="0">
              <a:buNone/>
            </a:pPr>
            <a:r>
              <a:rPr lang="en-US" dirty="0"/>
              <a:t>for n=0:20</a:t>
            </a:r>
          </a:p>
          <a:p>
            <a:pPr marL="0" indent="0">
              <a:buNone/>
            </a:pPr>
            <a:r>
              <a:rPr lang="en-US" dirty="0"/>
              <a:t>    fx0 = f(x0);</a:t>
            </a:r>
          </a:p>
          <a:p>
            <a:pPr marL="0" indent="0">
              <a:buNone/>
            </a:pPr>
            <a:r>
              <a:rPr lang="en-US" dirty="0"/>
              <a:t>    fx1 = f(x1);</a:t>
            </a:r>
          </a:p>
          <a:p>
            <a:pPr marL="0" indent="0">
              <a:buNone/>
            </a:pPr>
            <a:r>
              <a:rPr lang="en-US" dirty="0"/>
              <a:t>    x2 = x1 - fx1*(x1-x0)/(fx1-fx0);</a:t>
            </a:r>
          </a:p>
          <a:p>
            <a:pPr marL="0" indent="0">
              <a:buNone/>
            </a:pPr>
            <a:r>
              <a:rPr lang="en-US" dirty="0"/>
              <a:t>    err = abs(x2-x1);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CC687-5D9E-4024-25E1-E68D47D1B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0933"/>
            <a:ext cx="5181600" cy="463603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fprintf ('%2d %10.8f %10.8f %10.6f %10.6f %12.10f %10.8f\n’, n, x0, x1, fx0, fx1, x2, err);</a:t>
            </a:r>
          </a:p>
          <a:p>
            <a:pPr marL="0" indent="0">
              <a:buNone/>
            </a:pPr>
            <a:r>
              <a:rPr lang="en-US" dirty="0"/>
              <a:t>    if err &lt; tol</a:t>
            </a:r>
          </a:p>
          <a:p>
            <a:pPr marL="0" indent="0">
              <a:buNone/>
            </a:pPr>
            <a:r>
              <a:rPr lang="en-US" dirty="0"/>
              <a:t>        break;</a:t>
            </a:r>
          </a:p>
          <a:p>
            <a:pPr marL="0" indent="0">
              <a:buNone/>
            </a:pPr>
            <a:r>
              <a:rPr lang="en-US" dirty="0"/>
              <a:t>    end</a:t>
            </a:r>
          </a:p>
          <a:p>
            <a:pPr marL="0" indent="0">
              <a:buNone/>
            </a:pPr>
            <a:r>
              <a:rPr lang="en-US" dirty="0"/>
              <a:t>    x0 = x1;</a:t>
            </a:r>
          </a:p>
          <a:p>
            <a:pPr marL="0" indent="0">
              <a:buNone/>
            </a:pPr>
            <a:r>
              <a:rPr lang="en-US" dirty="0"/>
              <a:t>    x1 = x2;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fprintf ('\nCube root of 5 = %.10f\n', x2);</a:t>
            </a:r>
          </a:p>
          <a:p>
            <a:pPr marL="0" indent="0">
              <a:buNone/>
            </a:pPr>
            <a:r>
              <a:rPr lang="en-US" dirty="0"/>
              <a:t>fprintf ('5dp = %.5f\n', x2);</a:t>
            </a:r>
          </a:p>
          <a:p>
            <a:pPr marL="0" indent="0">
              <a:buNone/>
            </a:pPr>
            <a:r>
              <a:rPr lang="en-US" dirty="0"/>
              <a:t>fprintf('f(root) = %e\n', f(x2));</a:t>
            </a:r>
          </a:p>
        </p:txBody>
      </p:sp>
    </p:spTree>
    <p:extLst>
      <p:ext uri="{BB962C8B-B14F-4D97-AF65-F5344CB8AC3E}">
        <p14:creationId xmlns:p14="http://schemas.microsoft.com/office/powerpoint/2010/main" val="79964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F441ED5-6EBA-3E63-1284-D60E968629E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80533" y="152400"/>
                <a:ext cx="10515600" cy="2036762"/>
              </a:xfrm>
            </p:spPr>
            <p:txBody>
              <a:bodyPr>
                <a:noAutofit/>
              </a:bodyPr>
              <a:lstStyle/>
              <a:p>
                <a:r>
                  <a:rPr lang="en-US" sz="2400" b="1" dirty="0"/>
                  <a:t>3 a) </a:t>
                </a:r>
                <a:r>
                  <a:rPr lang="en-US" sz="2400" b="1" u="sng" dirty="0"/>
                  <a:t>RUNGE-KUTTA METHOD</a:t>
                </a:r>
                <a:br>
                  <a:rPr lang="en-US" sz="2400" dirty="0"/>
                </a:br>
                <a:r>
                  <a:rPr lang="en-US" sz="2400" b="1" dirty="0"/>
                  <a:t>Use the fourth order Runge – Kutta algorithm with step size h = 0.2 to solve the initial value problem;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/>
                        </m:ctrlPr>
                      </m:fPr>
                      <m:num>
                        <m:r>
                          <a:rPr lang="en-US" sz="2400" b="1" i="1"/>
                          <m:t>𝒅𝒚</m:t>
                        </m:r>
                      </m:num>
                      <m:den>
                        <m:r>
                          <a:rPr lang="en-US" sz="2400" b="1" i="1"/>
                          <m:t>𝒅𝒙</m:t>
                        </m:r>
                      </m:den>
                    </m:f>
                  </m:oMath>
                </a14:m>
                <a:r>
                  <a:rPr lang="en-US" sz="2400" b="1" dirty="0"/>
                  <a:t> + 2y =sin 3x with y (0) =1 in the interval 0 ≤ X ≤ 2.4.</a:t>
                </a:r>
                <a:br>
                  <a:rPr lang="en-US" sz="2400" dirty="0"/>
                </a:br>
                <a:endParaRPr lang="en-US" sz="18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F441ED5-6EBA-3E63-1284-D60E968629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80533" y="152400"/>
                <a:ext cx="10515600" cy="2036762"/>
              </a:xfrm>
              <a:blipFill>
                <a:blip r:embed="rId2"/>
                <a:stretch>
                  <a:fillRect l="-870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377B3-A408-1518-0265-AEAD982E0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81201"/>
            <a:ext cx="5181600" cy="419576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clc; clear;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% f (x, y) = sin(3x) - 2y</a:t>
            </a:r>
          </a:p>
          <a:p>
            <a:pPr marL="0" indent="0">
              <a:buNone/>
            </a:pPr>
            <a:r>
              <a:rPr lang="en-US" dirty="0"/>
              <a:t>f = @ (x, y) sin(3*x) - 2*y;</a:t>
            </a:r>
          </a:p>
          <a:p>
            <a:pPr marL="0" indent="0">
              <a:buNone/>
            </a:pPr>
            <a:r>
              <a:rPr lang="en-US" dirty="0"/>
              <a:t>h = 0.2</a:t>
            </a:r>
            <a:r>
              <a:rPr lang="en-US" dirty="0">
                <a:solidFill>
                  <a:schemeClr val="accent1"/>
                </a:solidFill>
              </a:rPr>
              <a:t>;               % step size</a:t>
            </a:r>
          </a:p>
          <a:p>
            <a:pPr marL="0" indent="0">
              <a:buNone/>
            </a:pPr>
            <a:r>
              <a:rPr lang="en-US" dirty="0"/>
              <a:t>x = 0:h:2.4;</a:t>
            </a:r>
          </a:p>
          <a:p>
            <a:pPr marL="0" indent="0">
              <a:buNone/>
            </a:pPr>
            <a:r>
              <a:rPr lang="en-US" dirty="0"/>
              <a:t> y = zeros(size(x));</a:t>
            </a:r>
          </a:p>
          <a:p>
            <a:pPr marL="0" indent="0">
              <a:buNone/>
            </a:pPr>
            <a:r>
              <a:rPr lang="en-US" dirty="0"/>
              <a:t> y (1) = 1; y (0) =1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fprintf (' n    x_n     y_n    k1     k2    k3   k4   y_{n+1}\n');</a:t>
            </a:r>
          </a:p>
          <a:p>
            <a:pPr marL="0" indent="0">
              <a:buNone/>
            </a:pPr>
            <a:r>
              <a:rPr lang="en-US" dirty="0"/>
              <a:t>for n = 1: length(x)-1</a:t>
            </a:r>
          </a:p>
          <a:p>
            <a:pPr marL="0" indent="0">
              <a:buNone/>
            </a:pPr>
            <a:r>
              <a:rPr lang="en-US" dirty="0"/>
              <a:t>    xn = x(n); y_n = y(n);</a:t>
            </a:r>
          </a:p>
          <a:p>
            <a:pPr marL="0" indent="0">
              <a:buNone/>
            </a:pPr>
            <a:r>
              <a:rPr lang="en-US" dirty="0"/>
              <a:t>     k1 = f (xn, y_n);</a:t>
            </a:r>
          </a:p>
          <a:p>
            <a:pPr marL="0" indent="0">
              <a:buNone/>
            </a:pPr>
            <a:r>
              <a:rPr lang="en-US" dirty="0"/>
              <a:t>    k2 = f (xn + h/2, y_n + h*k1/2);</a:t>
            </a:r>
          </a:p>
          <a:p>
            <a:pPr marL="0" indent="0">
              <a:buNone/>
            </a:pPr>
            <a:r>
              <a:rPr lang="en-US" dirty="0"/>
              <a:t>    k3 = f (xn + h/2, y_n + h*k2/2);</a:t>
            </a:r>
          </a:p>
          <a:p>
            <a:pPr marL="0" indent="0">
              <a:buNone/>
            </a:pPr>
            <a:r>
              <a:rPr lang="en-US" dirty="0"/>
              <a:t>    k4 = f (xn + h, y_n + h*k3);</a:t>
            </a:r>
          </a:p>
          <a:p>
            <a:pPr marL="0" indent="0">
              <a:buNone/>
            </a:pPr>
            <a:r>
              <a:rPr lang="en-US" dirty="0"/>
              <a:t>    y(n+1) = y_n + h/6*(k1 + 2*k2 + 2*k3 + k4);</a:t>
            </a:r>
          </a:p>
          <a:p>
            <a:pPr marL="0" indent="0">
              <a:buNone/>
            </a:pPr>
            <a:r>
              <a:rPr lang="en-US" dirty="0"/>
              <a:t>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F4CF6-A384-1ED8-9868-1EDA6D1606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fprintf (‘%2d %4.1f %8.6f %8.5f %8.5f %8.5f %8.5f %10.6f\n’, ...</a:t>
            </a:r>
          </a:p>
          <a:p>
            <a:pPr marL="0" indent="0">
              <a:buNone/>
            </a:pPr>
            <a:r>
              <a:rPr lang="en-US" dirty="0"/>
              <a:t>        n-1, xn, y_n, k1, k2, k3, k4, y(n+1));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% Display table</a:t>
            </a:r>
          </a:p>
          <a:p>
            <a:pPr marL="0" indent="0">
              <a:buNone/>
            </a:pPr>
            <a:r>
              <a:rPr lang="en-US" dirty="0"/>
              <a:t>fprintf ('\nFinal Solution:\n');</a:t>
            </a:r>
          </a:p>
          <a:p>
            <a:pPr marL="0" indent="0">
              <a:buNone/>
            </a:pPr>
            <a:r>
              <a:rPr lang="en-US" dirty="0"/>
              <a:t>fprintf ('   x        y\n');</a:t>
            </a:r>
          </a:p>
          <a:p>
            <a:pPr marL="0" indent="0">
              <a:buNone/>
            </a:pPr>
            <a:r>
              <a:rPr lang="en-US" dirty="0"/>
              <a:t>for i=1: length(x)</a:t>
            </a:r>
          </a:p>
          <a:p>
            <a:pPr marL="0" indent="0">
              <a:buNone/>
            </a:pPr>
            <a:r>
              <a:rPr lang="en-US" dirty="0"/>
              <a:t>    fprintf ('%5.1f %10.6f\n', x(i), y(i));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% Plot</a:t>
            </a:r>
          </a:p>
          <a:p>
            <a:pPr marL="0" indent="0">
              <a:buNone/>
            </a:pPr>
            <a:r>
              <a:rPr lang="en-US" dirty="0"/>
              <a:t>plot (x, y,'-o');</a:t>
            </a:r>
          </a:p>
          <a:p>
            <a:pPr marL="0" indent="0">
              <a:buNone/>
            </a:pPr>
            <a:r>
              <a:rPr lang="en-US" dirty="0"/>
              <a:t> xlabel('x'); </a:t>
            </a:r>
          </a:p>
          <a:p>
            <a:pPr marL="0" indent="0">
              <a:buNone/>
            </a:pPr>
            <a:r>
              <a:rPr lang="en-US" dirty="0"/>
              <a:t>ylabel('y');</a:t>
            </a:r>
          </a:p>
          <a:p>
            <a:pPr marL="0" indent="0">
              <a:buNone/>
            </a:pPr>
            <a:r>
              <a:rPr lang="en-US" dirty="0"/>
              <a:t>title ('RK4: dy/dx + 2y = sin3x, y (0) = 1, h = 0.2');</a:t>
            </a:r>
          </a:p>
          <a:p>
            <a:pPr marL="0" indent="0">
              <a:buNone/>
            </a:pPr>
            <a:r>
              <a:rPr lang="en-US" dirty="0"/>
              <a:t>grid on;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14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363AD5-9023-9E3B-4CBF-19F23A92D14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3600" b="1" dirty="0"/>
                  <a:t>3 b) Solve the initial value problem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/>
                        </m:ctrlPr>
                      </m:fPr>
                      <m:num>
                        <m:r>
                          <a:rPr lang="en-US" sz="3600" b="1" i="1"/>
                          <m:t>𝒅𝒚</m:t>
                        </m:r>
                      </m:num>
                      <m:den>
                        <m:r>
                          <a:rPr lang="en-US" sz="3600" b="1" i="1"/>
                          <m:t>𝒅𝒙</m:t>
                        </m:r>
                      </m:den>
                    </m:f>
                    <m:r>
                      <a:rPr lang="en-US" sz="3600" b="1" i="1"/>
                      <m:t>=</m:t>
                    </m:r>
                    <m:r>
                      <a:rPr lang="en-US" sz="3600" b="1" i="1"/>
                      <m:t>𝒙</m:t>
                    </m:r>
                    <m:r>
                      <a:rPr lang="en-US" sz="3600" b="1" i="1"/>
                      <m:t>+</m:t>
                    </m:r>
                    <m:r>
                      <a:rPr lang="en-US" sz="3600" b="1" i="1"/>
                      <m:t>𝒚</m:t>
                    </m:r>
                  </m:oMath>
                </a14:m>
                <a:r>
                  <a:rPr lang="en-US" sz="3600" b="1" dirty="0"/>
                  <a:t> with y (0) = 1, step size h = 0.1, to approximate y (0.5).</a:t>
                </a:r>
                <a:br>
                  <a:rPr lang="en-US" sz="3600" dirty="0"/>
                </a:br>
                <a:endParaRPr lang="en-US" sz="36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363AD5-9023-9E3B-4CBF-19F23A92D1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97" t="-18894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715C0-FF05-85CE-4F71-FF82BFBB3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81150"/>
            <a:ext cx="5181600" cy="459581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 clc; clear;</a:t>
            </a:r>
          </a:p>
          <a:p>
            <a:pPr marL="0" indent="0">
              <a:buNone/>
            </a:pPr>
            <a:r>
              <a:rPr lang="en-US" dirty="0"/>
              <a:t>f = @ (x, y) x + y;</a:t>
            </a:r>
          </a:p>
          <a:p>
            <a:pPr marL="0" indent="0">
              <a:buNone/>
            </a:pPr>
            <a:r>
              <a:rPr lang="en-US" dirty="0"/>
              <a:t>h = 0.1; x = 0:h:0.5;</a:t>
            </a:r>
          </a:p>
          <a:p>
            <a:pPr marL="0" indent="0">
              <a:buNone/>
            </a:pPr>
            <a:r>
              <a:rPr lang="en-US" dirty="0"/>
              <a:t> y = zeros(size(x));</a:t>
            </a:r>
          </a:p>
          <a:p>
            <a:pPr marL="0" indent="0">
              <a:buNone/>
            </a:pPr>
            <a:r>
              <a:rPr lang="en-US" dirty="0"/>
              <a:t> y (1) = 1; </a:t>
            </a:r>
            <a:r>
              <a:rPr lang="en-US" dirty="0">
                <a:solidFill>
                  <a:schemeClr val="accent1"/>
                </a:solidFill>
              </a:rPr>
              <a:t>% y (0) =1</a:t>
            </a:r>
          </a:p>
          <a:p>
            <a:pPr marL="0" indent="0">
              <a:buNone/>
            </a:pPr>
            <a:r>
              <a:rPr lang="en-US" dirty="0"/>
              <a:t>fprintf (' n    x_n   y_n        k1       k2       k3       k4      y_{n+1} \n');</a:t>
            </a:r>
          </a:p>
          <a:p>
            <a:pPr marL="0" indent="0">
              <a:buNone/>
            </a:pPr>
            <a:r>
              <a:rPr lang="en-US" dirty="0"/>
              <a:t>for n = 1: length(x)-1</a:t>
            </a:r>
          </a:p>
          <a:p>
            <a:pPr marL="0" indent="0">
              <a:buNone/>
            </a:pPr>
            <a:r>
              <a:rPr lang="en-US" dirty="0"/>
              <a:t>    xn = x(n); yn = y(n);</a:t>
            </a:r>
          </a:p>
          <a:p>
            <a:pPr marL="0" indent="0">
              <a:buNone/>
            </a:pPr>
            <a:r>
              <a:rPr lang="en-US" dirty="0"/>
              <a:t>     k1 = f (xn, yn);</a:t>
            </a:r>
          </a:p>
          <a:p>
            <a:pPr marL="0" indent="0">
              <a:buNone/>
            </a:pPr>
            <a:r>
              <a:rPr lang="en-US" dirty="0"/>
              <a:t>    k2 = f (xn + h/2, yn + h*k1/2);</a:t>
            </a:r>
          </a:p>
          <a:p>
            <a:pPr marL="0" indent="0">
              <a:buNone/>
            </a:pPr>
            <a:r>
              <a:rPr lang="en-US" dirty="0"/>
              <a:t>    k3 = f (xn + h/2, yn + h*k2/2);</a:t>
            </a:r>
          </a:p>
          <a:p>
            <a:pPr marL="0" indent="0">
              <a:buNone/>
            </a:pPr>
            <a:r>
              <a:rPr lang="en-US" dirty="0"/>
              <a:t>    k4 = f (xn + h, yn + h*k3);</a:t>
            </a:r>
          </a:p>
          <a:p>
            <a:pPr marL="0" indent="0">
              <a:buNone/>
            </a:pPr>
            <a:r>
              <a:rPr lang="en-US" dirty="0"/>
              <a:t>    y(n+1) = yn + h/6*(k1 + 2*k2 + 2*k3 + k4);</a:t>
            </a:r>
          </a:p>
          <a:p>
            <a:pPr marL="0" indent="0">
              <a:buNone/>
            </a:pPr>
            <a:r>
              <a:rPr lang="en-US" dirty="0"/>
              <a:t>     fprintf ('%2d %4.1f %8.6f %7.4f %7.4f %7.4f %7.4f %8.6f\n', ...</a:t>
            </a:r>
          </a:p>
          <a:p>
            <a:pPr marL="0" indent="0">
              <a:buNone/>
            </a:pPr>
            <a:r>
              <a:rPr lang="en-US" dirty="0"/>
              <a:t>        n-1, xn, yn, k1, k2, k3, k4, y(n+1));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C801D-490D-97A1-073E-EBFDA96579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% Plot</a:t>
            </a:r>
          </a:p>
          <a:p>
            <a:pPr marL="0" indent="0">
              <a:buNone/>
            </a:pPr>
            <a:r>
              <a:rPr lang="en-US" dirty="0"/>
              <a:t>plot (x, y,'-o'); grid on;</a:t>
            </a:r>
          </a:p>
          <a:p>
            <a:pPr marL="0" indent="0">
              <a:buNone/>
            </a:pPr>
            <a:r>
              <a:rPr lang="en-US" dirty="0"/>
              <a:t>xlabel('x'); ylabel('y');</a:t>
            </a:r>
          </a:p>
          <a:p>
            <a:pPr marL="0" indent="0">
              <a:buNone/>
            </a:pPr>
            <a:r>
              <a:rPr lang="en-US" dirty="0"/>
              <a:t>title ('RK4 dy/dx=x+y, y (0) =1, h=0.1');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% Exact solution: y = 2e^x - x - 1</a:t>
            </a:r>
          </a:p>
          <a:p>
            <a:pPr marL="0" indent="0">
              <a:buNone/>
            </a:pPr>
            <a:r>
              <a:rPr lang="en-US" dirty="0"/>
              <a:t>y_exact = 2*exp(x) - x - 1;</a:t>
            </a:r>
          </a:p>
          <a:p>
            <a:pPr marL="0" indent="0">
              <a:buNone/>
            </a:pPr>
            <a:r>
              <a:rPr lang="en-US" dirty="0"/>
              <a:t>fprintf ('\nAt x=0.5, RK4 y=%.10f, Exact y=%.10f, Error=%.2e\n', y(end), y_exact(end), abs(y(end)-y_exact(end)));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572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2111</Words>
  <Application>Microsoft Office PowerPoint</Application>
  <PresentationFormat>Widescreen</PresentationFormat>
  <Paragraphs>193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b) Find the root of f(x)= x^3-x-2 with initial guesses〖 x〗_0=1.0 and x_1=2.0, target        tolerance ∈ = 〖10〗^(-4) </vt:lpstr>
      <vt:lpstr>  2) SECANT METHOD Find the positive solution of f(x) = x – 2sinx = 0 by the secant method, starting with  x_0= 2 and x_1= 1.9 </vt:lpstr>
      <vt:lpstr>2 b) Find the root of f(x)= x^3-5(computing 5) with initial guesses〖 x〗_0=2.0 and  tolerance ∈ = 〖10〗^(-4) </vt:lpstr>
      <vt:lpstr>3 a) RUNGE-KUTTA METHOD Use the fourth order Runge – Kutta algorithm with step size h = 0.2 to solve the initial value problem; dy/dx + 2y =sin 3x with y (0) =1 in the interval 0 ≤ X ≤ 2.4. </vt:lpstr>
      <vt:lpstr>3 b) Solve the initial value problemdy/dx=x+y with y (0) = 1, step size h = 0.1, to approximate y (0.5).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racheal nakakande</dc:creator>
  <cp:lastModifiedBy>racheal nakakande</cp:lastModifiedBy>
  <cp:revision>1</cp:revision>
  <dcterms:created xsi:type="dcterms:W3CDTF">2026-10-06T09:03:56Z</dcterms:created>
  <dcterms:modified xsi:type="dcterms:W3CDTF">2026-10-06T09:03:57Z</dcterms:modified>
</cp:coreProperties>
</file>